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embeddedFontLst>
    <p:embeddedFont>
      <p:font typeface="DM Serif Display"/>
      <p:regular r:id="rId201314"/>
    </p:embeddedFont>
    <p:embeddedFont>
      <p:font typeface="Source Sans 3"/>
      <p:regular r:id="rId201315"/>
    </p:embeddedFont>
    <p:embeddedFont>
      <p:font typeface="Source Sans 3 SemiBold"/>
      <p:regular r:id="rId201316"/>
    </p:embeddedFont>
    <p:embeddedFont>
      <p:font typeface="Source Sans 3 Bold"/>
      <p:regular r:id="rId2013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201314" Target="fonts/201314.fntdata" Type="http://schemas.openxmlformats.org/officeDocument/2006/relationships/font"/><Relationship Id="rId201315" Target="fonts/201315.fntdata" Type="http://schemas.openxmlformats.org/officeDocument/2006/relationships/font"/><Relationship Id="rId201316" Target="fonts/201316.fntdata" Type="http://schemas.openxmlformats.org/officeDocument/2006/relationships/font"/><Relationship Id="rId201317" Target="fonts/201317.fntdata" Type="http://schemas.openxmlformats.org/officeDocument/2006/relationships/font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783" y="609600"/>
            <a:ext cx="6629234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50" spc="126" kern="100" dirty="0">
                <a:solidFill>
                  <a:srgbClr val="E39B5B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ETHICS REVIEW COMMITTEE · Q4 2026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783" y="2365772"/>
            <a:ext cx="6070448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5200" spc="-26" kern="100" dirty="0">
                <a:solidFill>
                  <a:srgbClr val="F4EFE6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The Ethics of Intelligent Systems</a:t>
            </a:r>
            <a:endParaRPr lang="en-US" sz="5200" dirty="0"/>
          </a:p>
        </p:txBody>
      </p:sp>
      <p:sp>
        <p:nvSpPr>
          <p:cNvPr id="4" name="Shape 2"/>
          <p:cNvSpPr/>
          <p:nvPr/>
        </p:nvSpPr>
        <p:spPr>
          <a:xfrm>
            <a:off x="685783" y="3927872"/>
            <a:ext cx="1517513" cy="38100"/>
          </a:xfrm>
          <a:prstGeom prst="roundRect">
            <a:avLst>
              <a:gd name="adj" fmla="val 49999"/>
            </a:avLst>
          </a:prstGeom>
          <a:solidFill>
            <a:srgbClr val="E39B5B"/>
          </a:solidFill>
          <a:ln/>
        </p:spPr>
      </p:sp>
      <p:sp>
        <p:nvSpPr>
          <p:cNvPr id="5" name="Text 3"/>
          <p:cNvSpPr/>
          <p:nvPr/>
        </p:nvSpPr>
        <p:spPr>
          <a:xfrm>
            <a:off x="685783" y="4346972"/>
            <a:ext cx="6070448" cy="2287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1700" spc="-8" kern="100" dirty="0">
                <a:solidFill>
                  <a:srgbClr val="F4EFE6"/>
                </a:solidFill>
                <a:latin typeface="Source Sans 3 SemiBold" pitchFamily="34" charset="0"/>
                <a:ea typeface="Source Sans 3 SemiBold" pitchFamily="34" charset="-122"/>
                <a:cs typeface="Source Sans 3 SemiBold" pitchFamily="34" charset="-120"/>
              </a:rPr>
              <a:t>A framework for responsible AI adoption across the organization.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85783" y="6142633"/>
            <a:ext cx="6629234" cy="2073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D6DBE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Prepared for the Ethics Review Board · October 2026</a:t>
            </a:r>
            <a:endParaRPr lang="en-US" sz="115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017" y="0"/>
            <a:ext cx="4876678" cy="68580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295967" y="0"/>
            <a:ext cx="38099" cy="6858000"/>
          </a:xfrm>
          <a:prstGeom prst="rect">
            <a:avLst/>
          </a:prstGeom>
          <a:solidFill>
            <a:srgbClr val="E39B5B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783" y="2209602"/>
            <a:ext cx="10820129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5200" spc="-26" kern="100" dirty="0">
                <a:solidFill>
                  <a:srgbClr val="F4EFE6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Not whether we adopt AI,</a:t>
            </a:r>
            <a:endParaRPr lang="en-US" sz="5200" dirty="0"/>
          </a:p>
          <a:p>
            <a:pPr algn="l" indent="0" marL="0">
              <a:lnSpc>
                <a:spcPct val="83000"/>
              </a:lnSpc>
              <a:buNone/>
            </a:pPr>
            <a:r>
              <a:rPr lang="en-US" sz="5200" spc="-26" kern="100" dirty="0">
                <a:solidFill>
                  <a:srgbClr val="F4EFE6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but how we govern it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685783" y="3771702"/>
            <a:ext cx="2705032" cy="38100"/>
          </a:xfrm>
          <a:prstGeom prst="roundRect">
            <a:avLst>
              <a:gd name="adj" fmla="val 49999"/>
            </a:avLst>
          </a:prstGeom>
          <a:solidFill>
            <a:srgbClr val="E39B5B"/>
          </a:solidFill>
          <a:ln/>
        </p:spPr>
      </p:sp>
      <p:sp>
        <p:nvSpPr>
          <p:cNvPr id="4" name="Text 2"/>
          <p:cNvSpPr/>
          <p:nvPr/>
        </p:nvSpPr>
        <p:spPr>
          <a:xfrm>
            <a:off x="685783" y="4190802"/>
            <a:ext cx="10820129" cy="4575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1700" spc="-8" kern="100" dirty="0">
                <a:solidFill>
                  <a:srgbClr val="F4EFE6"/>
                </a:solidFill>
                <a:latin typeface="Source Sans 3 SemiBold" pitchFamily="34" charset="0"/>
                <a:ea typeface="Source Sans 3 SemiBold" pitchFamily="34" charset="-122"/>
                <a:cs typeface="Source Sans 3 SemiBold" pitchFamily="34" charset="-120"/>
              </a:rPr>
              <a:t>The technology is already deployed.</a:t>
            </a:r>
            <a:endParaRPr lang="en-US" sz="17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1700" spc="-8" kern="100" dirty="0">
                <a:solidFill>
                  <a:srgbClr val="F4EFE6"/>
                </a:solidFill>
                <a:latin typeface="Source Sans 3 SemiBold" pitchFamily="34" charset="0"/>
                <a:ea typeface="Source Sans 3 SemiBold" pitchFamily="34" charset="-122"/>
                <a:cs typeface="Source Sans 3 SemiBold" pitchFamily="34" charset="-120"/>
              </a:rPr>
              <a:t>The ethical infrastructure is not.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783" y="533400"/>
            <a:ext cx="10820129" cy="915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400" spc="-17" kern="100" dirty="0">
                <a:solidFill>
                  <a:srgbClr val="F4EFE6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73% of organizations deploy AI, yet fewer than 1 in 4 have an ethics review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85783" y="2770783"/>
            <a:ext cx="5181470" cy="1117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8800" spc="-44" kern="100" dirty="0">
                <a:solidFill>
                  <a:srgbClr val="E39B5B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73%</a:t>
            </a:r>
            <a:endParaRPr lang="en-US" sz="8800" dirty="0"/>
          </a:p>
        </p:txBody>
      </p:sp>
      <p:sp>
        <p:nvSpPr>
          <p:cNvPr id="4" name="Text 2"/>
          <p:cNvSpPr/>
          <p:nvPr/>
        </p:nvSpPr>
        <p:spPr>
          <a:xfrm>
            <a:off x="685783" y="4201220"/>
            <a:ext cx="5181470" cy="6129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D6DBE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of organizations now deploy AI in at least one business function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324442" y="2919710"/>
            <a:ext cx="5181470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50" spc="126" kern="100" dirty="0">
                <a:solidFill>
                  <a:srgbClr val="E39B5B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FEWER THAN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324442" y="3188395"/>
            <a:ext cx="518147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7200" spc="-36" kern="100" dirty="0">
                <a:solidFill>
                  <a:srgbClr val="E39B5B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1 in 4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6324442" y="4358779"/>
            <a:ext cx="5181470" cy="3064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D6DBE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have a formal ethics review process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85783" y="6117233"/>
            <a:ext cx="11429714" cy="2073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93A1B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Source: McKinsey State of AI, 2025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89498" y="1645642"/>
            <a:ext cx="12700" cy="4293791"/>
          </a:xfrm>
          <a:prstGeom prst="rect">
            <a:avLst/>
          </a:prstGeom>
          <a:solidFill>
            <a:srgbClr val="2A3B5A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6858000"/>
          </a:xfrm>
          <a:prstGeom prst="rect">
            <a:avLst/>
          </a:prstGeom>
          <a:solidFill>
            <a:srgbClr val="16264A"/>
          </a:solidFill>
          <a:ln/>
        </p:spPr>
      </p:sp>
      <p:sp>
        <p:nvSpPr>
          <p:cNvPr id="3" name="Text 1"/>
          <p:cNvSpPr/>
          <p:nvPr/>
        </p:nvSpPr>
        <p:spPr>
          <a:xfrm>
            <a:off x="380990" y="2863652"/>
            <a:ext cx="3301917" cy="11306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200" spc="-21" kern="100" dirty="0">
                <a:solidFill>
                  <a:srgbClr val="D6DBE6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What we'll examine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4673483" y="701675"/>
            <a:ext cx="372954" cy="311150"/>
          </a:xfrm>
          <a:prstGeom prst="roundRect">
            <a:avLst>
              <a:gd name="adj" fmla="val 17142"/>
            </a:avLst>
          </a:prstGeom>
          <a:solidFill>
            <a:srgbClr val="E39B5B"/>
          </a:solidFill>
          <a:ln w="6350">
            <a:solidFill>
              <a:srgbClr val="8656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768731" y="768350"/>
            <a:ext cx="7920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Source Sans 3 SemiBold" pitchFamily="34" charset="0"/>
                <a:ea typeface="Source Sans 3 SemiBold" pitchFamily="34" charset="-122"/>
                <a:cs typeface="Source Sans 3 SemiBold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275031" y="685800"/>
            <a:ext cx="6307079" cy="2960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2200" spc="-11" kern="100" dirty="0">
                <a:solidFill>
                  <a:srgbClr val="F4EFE6"/>
                </a:solidFill>
                <a:latin typeface="Source Sans 3 SemiBold" pitchFamily="34" charset="0"/>
                <a:ea typeface="Source Sans 3 SemiBold" pitchFamily="34" charset="-122"/>
                <a:cs typeface="Source Sans 3 SemiBold" pitchFamily="34" charset="-120"/>
              </a:rPr>
              <a:t>The ethical landscape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673483" y="1890316"/>
            <a:ext cx="372954" cy="311150"/>
          </a:xfrm>
          <a:prstGeom prst="roundRect">
            <a:avLst>
              <a:gd name="adj" fmla="val 17142"/>
            </a:avLst>
          </a:prstGeom>
          <a:solidFill>
            <a:srgbClr val="E39B5B"/>
          </a:solidFill>
          <a:ln w="6350">
            <a:solidFill>
              <a:srgbClr val="8656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68731" y="1956991"/>
            <a:ext cx="7920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Source Sans 3 SemiBold" pitchFamily="34" charset="0"/>
                <a:ea typeface="Source Sans 3 SemiBold" pitchFamily="34" charset="-122"/>
                <a:cs typeface="Source Sans 3 SemiBold" pitchFamily="34" charset="-120"/>
              </a:rPr>
              <a:t>02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275031" y="1874441"/>
            <a:ext cx="6307079" cy="2960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2200" spc="-11" kern="100" dirty="0">
                <a:solidFill>
                  <a:srgbClr val="F4EFE6"/>
                </a:solidFill>
                <a:latin typeface="Source Sans 3 SemiBold" pitchFamily="34" charset="0"/>
                <a:ea typeface="Source Sans 3 SemiBold" pitchFamily="34" charset="-122"/>
                <a:cs typeface="Source Sans 3 SemiBold" pitchFamily="34" charset="-120"/>
              </a:rPr>
              <a:t>Core principles for governance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673483" y="3079055"/>
            <a:ext cx="372954" cy="311150"/>
          </a:xfrm>
          <a:prstGeom prst="roundRect">
            <a:avLst>
              <a:gd name="adj" fmla="val 17142"/>
            </a:avLst>
          </a:prstGeom>
          <a:solidFill>
            <a:srgbClr val="E39B5B"/>
          </a:solidFill>
          <a:ln w="6350">
            <a:solidFill>
              <a:srgbClr val="86562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68731" y="3145730"/>
            <a:ext cx="7920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Source Sans 3 SemiBold" pitchFamily="34" charset="0"/>
                <a:ea typeface="Source Sans 3 SemiBold" pitchFamily="34" charset="-122"/>
                <a:cs typeface="Source Sans 3 SemiBold" pitchFamily="34" charset="-120"/>
              </a:rPr>
              <a:t>03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275031" y="3063180"/>
            <a:ext cx="6307079" cy="2960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2200" spc="-11" kern="100" dirty="0">
                <a:solidFill>
                  <a:srgbClr val="F4EFE6"/>
                </a:solidFill>
                <a:latin typeface="Source Sans 3 SemiBold" pitchFamily="34" charset="0"/>
                <a:ea typeface="Source Sans 3 SemiBold" pitchFamily="34" charset="-122"/>
                <a:cs typeface="Source Sans 3 SemiBold" pitchFamily="34" charset="-120"/>
              </a:rPr>
              <a:t>Risks in current deployments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4673483" y="4267795"/>
            <a:ext cx="372954" cy="311150"/>
          </a:xfrm>
          <a:prstGeom prst="roundRect">
            <a:avLst>
              <a:gd name="adj" fmla="val 17142"/>
            </a:avLst>
          </a:prstGeom>
          <a:solidFill>
            <a:srgbClr val="E39B5B"/>
          </a:solidFill>
          <a:ln w="6350">
            <a:solidFill>
              <a:srgbClr val="86562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68731" y="4334470"/>
            <a:ext cx="7920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Source Sans 3 SemiBold" pitchFamily="34" charset="0"/>
                <a:ea typeface="Source Sans 3 SemiBold" pitchFamily="34" charset="-122"/>
                <a:cs typeface="Source Sans 3 SemiBold" pitchFamily="34" charset="-120"/>
              </a:rPr>
              <a:t>04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275031" y="4251920"/>
            <a:ext cx="6307079" cy="2960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2200" spc="-11" kern="100" dirty="0">
                <a:solidFill>
                  <a:srgbClr val="F4EFE6"/>
                </a:solidFill>
                <a:latin typeface="Source Sans 3 SemiBold" pitchFamily="34" charset="0"/>
                <a:ea typeface="Source Sans 3 SemiBold" pitchFamily="34" charset="-122"/>
                <a:cs typeface="Source Sans 3 SemiBold" pitchFamily="34" charset="-120"/>
              </a:rPr>
              <a:t>A proposed framework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4673483" y="5456535"/>
            <a:ext cx="372954" cy="311150"/>
          </a:xfrm>
          <a:prstGeom prst="roundRect">
            <a:avLst>
              <a:gd name="adj" fmla="val 17142"/>
            </a:avLst>
          </a:prstGeom>
          <a:solidFill>
            <a:srgbClr val="E39B5B"/>
          </a:solidFill>
          <a:ln w="6350">
            <a:solidFill>
              <a:srgbClr val="86562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68731" y="5523210"/>
            <a:ext cx="7920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Source Sans 3 SemiBold" pitchFamily="34" charset="0"/>
                <a:ea typeface="Source Sans 3 SemiBold" pitchFamily="34" charset="-122"/>
                <a:cs typeface="Source Sans 3 SemiBold" pitchFamily="34" charset="-120"/>
              </a:rPr>
              <a:t>05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75031" y="5440660"/>
            <a:ext cx="6307079" cy="2960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2200" spc="-11" kern="100" dirty="0">
                <a:solidFill>
                  <a:srgbClr val="F4EFE6"/>
                </a:solidFill>
                <a:latin typeface="Source Sans 3 SemiBold" pitchFamily="34" charset="0"/>
                <a:ea typeface="Source Sans 3 SemiBold" pitchFamily="34" charset="-122"/>
                <a:cs typeface="Source Sans 3 SemiBold" pitchFamily="34" charset="-120"/>
              </a:rPr>
              <a:t>Recommendations &amp; next steps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044849" y="0"/>
            <a:ext cx="38099" cy="6858000"/>
          </a:xfrm>
          <a:prstGeom prst="rect">
            <a:avLst/>
          </a:prstGeom>
          <a:solidFill>
            <a:srgbClr val="E39B5B"/>
          </a:solidFill>
          <a:ln/>
        </p:spPr>
      </p:sp>
      <p:sp>
        <p:nvSpPr>
          <p:cNvPr id="20" name="Shape 18"/>
          <p:cNvSpPr/>
          <p:nvPr/>
        </p:nvSpPr>
        <p:spPr>
          <a:xfrm>
            <a:off x="4673483" y="1639491"/>
            <a:ext cx="6908627" cy="12700"/>
          </a:xfrm>
          <a:prstGeom prst="rect">
            <a:avLst/>
          </a:prstGeom>
          <a:solidFill>
            <a:srgbClr val="2A3B5A"/>
          </a:solidFill>
          <a:ln/>
        </p:spPr>
      </p:sp>
      <p:sp>
        <p:nvSpPr>
          <p:cNvPr id="21" name="Shape 19"/>
          <p:cNvSpPr/>
          <p:nvPr/>
        </p:nvSpPr>
        <p:spPr>
          <a:xfrm>
            <a:off x="4673483" y="2828230"/>
            <a:ext cx="6908627" cy="12700"/>
          </a:xfrm>
          <a:prstGeom prst="rect">
            <a:avLst/>
          </a:prstGeom>
          <a:solidFill>
            <a:srgbClr val="2A3B5A"/>
          </a:solidFill>
          <a:ln/>
        </p:spPr>
      </p:sp>
      <p:sp>
        <p:nvSpPr>
          <p:cNvPr id="22" name="Shape 20"/>
          <p:cNvSpPr/>
          <p:nvPr/>
        </p:nvSpPr>
        <p:spPr>
          <a:xfrm>
            <a:off x="4673483" y="4016970"/>
            <a:ext cx="6908627" cy="12700"/>
          </a:xfrm>
          <a:prstGeom prst="rect">
            <a:avLst/>
          </a:prstGeom>
          <a:solidFill>
            <a:srgbClr val="2A3B5A"/>
          </a:solidFill>
          <a:ln/>
        </p:spPr>
      </p:sp>
      <p:sp>
        <p:nvSpPr>
          <p:cNvPr id="23" name="Shape 21"/>
          <p:cNvSpPr/>
          <p:nvPr/>
        </p:nvSpPr>
        <p:spPr>
          <a:xfrm>
            <a:off x="4673483" y="5205710"/>
            <a:ext cx="6908627" cy="12700"/>
          </a:xfrm>
          <a:prstGeom prst="rect">
            <a:avLst/>
          </a:prstGeom>
          <a:solidFill>
            <a:srgbClr val="2A3B5A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783" y="685800"/>
            <a:ext cx="6553036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50" spc="126" kern="100" dirty="0">
                <a:solidFill>
                  <a:srgbClr val="E39B5B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PART ONE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783" y="2701330"/>
            <a:ext cx="5943451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5200" spc="-26" kern="100" dirty="0">
                <a:solidFill>
                  <a:srgbClr val="F4EFE6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The Ethical Landscape</a:t>
            </a:r>
            <a:endParaRPr lang="en-US" sz="5200" dirty="0"/>
          </a:p>
        </p:txBody>
      </p:sp>
      <p:sp>
        <p:nvSpPr>
          <p:cNvPr id="4" name="Shape 2"/>
          <p:cNvSpPr/>
          <p:nvPr/>
        </p:nvSpPr>
        <p:spPr>
          <a:xfrm>
            <a:off x="685783" y="4263430"/>
            <a:ext cx="1485863" cy="38100"/>
          </a:xfrm>
          <a:prstGeom prst="roundRect">
            <a:avLst>
              <a:gd name="adj" fmla="val 49999"/>
            </a:avLst>
          </a:prstGeom>
          <a:solidFill>
            <a:srgbClr val="E39B5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017" y="0"/>
            <a:ext cx="487667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533400"/>
            <a:ext cx="10972526" cy="4576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400" spc="-17" kern="100" dirty="0">
                <a:solidFill>
                  <a:srgbClr val="F4EFE6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Four pillars of AI ethics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09585" y="1187946"/>
            <a:ext cx="2514537" cy="38100"/>
          </a:xfrm>
          <a:prstGeom prst="rect">
            <a:avLst/>
          </a:prstGeom>
          <a:solidFill>
            <a:srgbClr val="E39B5B"/>
          </a:solidFill>
          <a:ln/>
        </p:spPr>
      </p:sp>
      <p:sp>
        <p:nvSpPr>
          <p:cNvPr id="4" name="Text 2"/>
          <p:cNvSpPr/>
          <p:nvPr/>
        </p:nvSpPr>
        <p:spPr>
          <a:xfrm>
            <a:off x="736582" y="1505446"/>
            <a:ext cx="2260543" cy="2960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2200" spc="-11" kern="100" dirty="0">
                <a:solidFill>
                  <a:srgbClr val="F4EFE6"/>
                </a:solidFill>
                <a:latin typeface="Source Sans 3 SemiBold" pitchFamily="34" charset="0"/>
                <a:ea typeface="Source Sans 3 SemiBold" pitchFamily="34" charset="-122"/>
                <a:cs typeface="Source Sans 3 SemiBold" pitchFamily="34" charset="-120"/>
              </a:rPr>
              <a:t>Transparency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6582" y="4206280"/>
            <a:ext cx="2260543" cy="183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D6DBE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Systems must be explainable; stakeholders understand how decisions are made and what data drives them.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3428914" y="1187946"/>
            <a:ext cx="2514537" cy="38100"/>
          </a:xfrm>
          <a:prstGeom prst="rect">
            <a:avLst/>
          </a:prstGeom>
          <a:solidFill>
            <a:srgbClr val="E39B5B"/>
          </a:solidFill>
          <a:ln/>
        </p:spPr>
      </p:sp>
      <p:sp>
        <p:nvSpPr>
          <p:cNvPr id="7" name="Text 5"/>
          <p:cNvSpPr/>
          <p:nvPr/>
        </p:nvSpPr>
        <p:spPr>
          <a:xfrm>
            <a:off x="3555911" y="1505446"/>
            <a:ext cx="2260543" cy="2960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2200" spc="-11" kern="100" dirty="0">
                <a:solidFill>
                  <a:srgbClr val="F4EFE6"/>
                </a:solidFill>
                <a:latin typeface="Source Sans 3 SemiBold" pitchFamily="34" charset="0"/>
                <a:ea typeface="Source Sans 3 SemiBold" pitchFamily="34" charset="-122"/>
                <a:cs typeface="Source Sans 3 SemiBold" pitchFamily="34" charset="-120"/>
              </a:rPr>
              <a:t>Accountability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555911" y="4512766"/>
            <a:ext cx="2260543" cy="15324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D6DBE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Clear ownership for every automated decision; a human is identifiable and answerable.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248244" y="1187946"/>
            <a:ext cx="2514537" cy="38100"/>
          </a:xfrm>
          <a:prstGeom prst="rect">
            <a:avLst/>
          </a:prstGeom>
          <a:solidFill>
            <a:srgbClr val="E39B5B"/>
          </a:solidFill>
          <a:ln/>
        </p:spPr>
      </p:sp>
      <p:sp>
        <p:nvSpPr>
          <p:cNvPr id="10" name="Text 8"/>
          <p:cNvSpPr/>
          <p:nvPr/>
        </p:nvSpPr>
        <p:spPr>
          <a:xfrm>
            <a:off x="6375241" y="1505446"/>
            <a:ext cx="2260543" cy="2960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2200" spc="-11" kern="100" dirty="0">
                <a:solidFill>
                  <a:srgbClr val="F4EFE6"/>
                </a:solidFill>
                <a:latin typeface="Source Sans 3 SemiBold" pitchFamily="34" charset="0"/>
                <a:ea typeface="Source Sans 3 SemiBold" pitchFamily="34" charset="-122"/>
                <a:cs typeface="Source Sans 3 SemiBold" pitchFamily="34" charset="-120"/>
              </a:rPr>
              <a:t>Fairness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375241" y="4512766"/>
            <a:ext cx="2260543" cy="15324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D6DBE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Active bias testing across demographic lines; disparate impact is measured, not assumed away.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9067573" y="1187946"/>
            <a:ext cx="2514537" cy="38100"/>
          </a:xfrm>
          <a:prstGeom prst="rect">
            <a:avLst/>
          </a:prstGeom>
          <a:solidFill>
            <a:srgbClr val="E39B5B"/>
          </a:solidFill>
          <a:ln/>
        </p:spPr>
      </p:sp>
      <p:sp>
        <p:nvSpPr>
          <p:cNvPr id="13" name="Text 11"/>
          <p:cNvSpPr/>
          <p:nvPr/>
        </p:nvSpPr>
        <p:spPr>
          <a:xfrm>
            <a:off x="9194570" y="1505446"/>
            <a:ext cx="2260543" cy="2960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2200" spc="-11" kern="100" dirty="0">
                <a:solidFill>
                  <a:srgbClr val="F4EFE6"/>
                </a:solidFill>
                <a:latin typeface="Source Sans 3 SemiBold" pitchFamily="34" charset="0"/>
                <a:ea typeface="Source Sans 3 SemiBold" pitchFamily="34" charset="-122"/>
                <a:cs typeface="Source Sans 3 SemiBold" pitchFamily="34" charset="-120"/>
              </a:rPr>
              <a:t>Privacy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194570" y="4819253"/>
            <a:ext cx="2260543" cy="12259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D6DBE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Collection follows purpose limitation; individuals keep meaningful control.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533400"/>
            <a:ext cx="10972526" cy="4576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400" spc="-17" kern="100" dirty="0">
                <a:solidFill>
                  <a:srgbClr val="F4EFE6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Principle vs. practice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09585" y="1518146"/>
            <a:ext cx="5156071" cy="2960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2200" spc="-11" kern="100" dirty="0">
                <a:solidFill>
                  <a:srgbClr val="F4EFE6"/>
                </a:solidFill>
                <a:latin typeface="Source Sans 3 SemiBold" pitchFamily="34" charset="0"/>
                <a:ea typeface="Source Sans 3 SemiBold" pitchFamily="34" charset="-122"/>
                <a:cs typeface="Source Sans 3 SemiBold" pitchFamily="34" charset="-120"/>
              </a:rPr>
              <a:t>On paper, our policies say: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09585" y="2001540"/>
            <a:ext cx="5155972" cy="38100"/>
          </a:xfrm>
          <a:prstGeom prst="roundRect">
            <a:avLst>
              <a:gd name="adj" fmla="val 49999"/>
            </a:avLst>
          </a:prstGeom>
          <a:solidFill>
            <a:srgbClr val="7F9CC4"/>
          </a:solidFill>
          <a:ln/>
        </p:spPr>
      </p:sp>
      <p:sp>
        <p:nvSpPr>
          <p:cNvPr id="5" name="Text 3"/>
          <p:cNvSpPr/>
          <p:nvPr/>
        </p:nvSpPr>
        <p:spPr>
          <a:xfrm>
            <a:off x="609585" y="2198390"/>
            <a:ext cx="5156071" cy="1162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84480" indent="-284480">
              <a:lnSpc>
                <a:spcPct val="118000"/>
              </a:lnSpc>
              <a:buSzPct val="100000"/>
              <a:buChar char="•"/>
            </a:pPr>
            <a:r>
              <a:rPr lang="en-US" sz="1400" dirty="0">
                <a:solidFill>
                  <a:srgbClr val="D6DBE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AI use must be documented and reviewed</a:t>
            </a:r>
            <a:endParaRPr lang="en-US" sz="1400" dirty="0"/>
          </a:p>
          <a:p>
            <a:pPr algn="l" marL="284480" indent="-284480">
              <a:lnSpc>
                <a:spcPct val="118000"/>
              </a:lnSpc>
              <a:buSzPct val="100000"/>
              <a:buChar char="•"/>
            </a:pPr>
            <a:r>
              <a:rPr lang="en-US" sz="1400" dirty="0">
                <a:solidFill>
                  <a:srgbClr val="D6DBE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Bias testing is required before deployment</a:t>
            </a:r>
            <a:endParaRPr lang="en-US" sz="1400" dirty="0"/>
          </a:p>
          <a:p>
            <a:pPr algn="l" marL="284480" indent="-284480">
              <a:lnSpc>
                <a:spcPct val="118000"/>
              </a:lnSpc>
              <a:buSzPct val="100000"/>
              <a:buChar char="•"/>
            </a:pPr>
            <a:r>
              <a:rPr lang="en-US" sz="1400" dirty="0">
                <a:solidFill>
                  <a:srgbClr val="D6DBE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Human oversight for all high-impact decisions</a:t>
            </a:r>
            <a:endParaRPr lang="en-US" sz="1400" dirty="0"/>
          </a:p>
          <a:p>
            <a:pPr algn="l" marL="284480" indent="-284480">
              <a:lnSpc>
                <a:spcPct val="118000"/>
              </a:lnSpc>
              <a:buSzPct val="100000"/>
              <a:buChar char="•"/>
            </a:pPr>
            <a:r>
              <a:rPr lang="en-US" sz="1400" dirty="0">
                <a:solidFill>
                  <a:srgbClr val="D6DBE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Data minimization is standard practice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26039" y="1518146"/>
            <a:ext cx="4825879" cy="2960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2200" spc="-11" kern="100" dirty="0">
                <a:solidFill>
                  <a:srgbClr val="F4EFE6"/>
                </a:solidFill>
                <a:latin typeface="Source Sans 3 SemiBold" pitchFamily="34" charset="0"/>
                <a:ea typeface="Source Sans 3 SemiBold" pitchFamily="34" charset="-122"/>
                <a:cs typeface="Source Sans 3 SemiBold" pitchFamily="34" charset="-120"/>
              </a:rPr>
              <a:t>In practice, we observed: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426039" y="2001540"/>
            <a:ext cx="4825879" cy="38100"/>
          </a:xfrm>
          <a:prstGeom prst="roundRect">
            <a:avLst>
              <a:gd name="adj" fmla="val 49999"/>
            </a:avLst>
          </a:prstGeom>
          <a:solidFill>
            <a:srgbClr val="E39B5B"/>
          </a:solidFill>
          <a:ln/>
        </p:spPr>
      </p:sp>
      <p:sp>
        <p:nvSpPr>
          <p:cNvPr id="8" name="Text 6"/>
          <p:cNvSpPr/>
          <p:nvPr/>
        </p:nvSpPr>
        <p:spPr>
          <a:xfrm>
            <a:off x="6426039" y="2198390"/>
            <a:ext cx="4825879" cy="1162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84480" indent="-284480">
              <a:lnSpc>
                <a:spcPct val="118000"/>
              </a:lnSpc>
              <a:buSzPct val="100000"/>
              <a:buChar char="•"/>
            </a:pPr>
            <a:r>
              <a:rPr lang="en-US" sz="1400" dirty="0">
                <a:solidFill>
                  <a:srgbClr val="D6DBE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Over 40% of AI tools deployed without review</a:t>
            </a:r>
            <a:endParaRPr lang="en-US" sz="1400" dirty="0"/>
          </a:p>
          <a:p>
            <a:pPr algn="l" marL="284480" indent="-284480">
              <a:lnSpc>
                <a:spcPct val="118000"/>
              </a:lnSpc>
              <a:buSzPct val="100000"/>
              <a:buChar char="•"/>
            </a:pPr>
            <a:r>
              <a:rPr lang="en-US" sz="1400" dirty="0">
                <a:solidFill>
                  <a:srgbClr val="D6DBE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Bias testing skipped on 2 of 3 recent launches</a:t>
            </a:r>
            <a:endParaRPr lang="en-US" sz="1400" dirty="0"/>
          </a:p>
          <a:p>
            <a:pPr algn="l" marL="284480" indent="-284480">
              <a:lnSpc>
                <a:spcPct val="118000"/>
              </a:lnSpc>
              <a:buSzPct val="100000"/>
              <a:buChar char="•"/>
            </a:pPr>
            <a:r>
              <a:rPr lang="en-US" sz="1400" dirty="0">
                <a:solidFill>
                  <a:srgbClr val="D6DBE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Oversight is assigned but not staffed</a:t>
            </a:r>
            <a:endParaRPr lang="en-US" sz="1400" dirty="0"/>
          </a:p>
          <a:p>
            <a:pPr algn="l" marL="284480" indent="-284480">
              <a:lnSpc>
                <a:spcPct val="118000"/>
              </a:lnSpc>
              <a:buSzPct val="100000"/>
              <a:buChar char="•"/>
            </a:pPr>
            <a:r>
              <a:rPr lang="en-US" sz="1400" dirty="0">
                <a:solidFill>
                  <a:srgbClr val="D6DBE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Training data retained beyond stated purpose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089498" y="1187946"/>
            <a:ext cx="12700" cy="5136654"/>
          </a:xfrm>
          <a:prstGeom prst="rect">
            <a:avLst/>
          </a:prstGeom>
          <a:solidFill>
            <a:srgbClr val="2A3B5A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482600"/>
            <a:ext cx="10972526" cy="4576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400" spc="-17" kern="100" dirty="0">
                <a:solidFill>
                  <a:srgbClr val="F4EFE6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Where the exposure is greatest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09585" y="1137146"/>
            <a:ext cx="5257668" cy="660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5200" spc="-26" kern="100" dirty="0">
                <a:solidFill>
                  <a:srgbClr val="E39B5B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12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609585" y="1994396"/>
            <a:ext cx="5257668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spcAft>
                <a:spcPts val="850"/>
              </a:spcAft>
              <a:buNone/>
            </a:pPr>
            <a:r>
              <a:rPr lang="en-US" sz="1400" dirty="0">
                <a:solidFill>
                  <a:srgbClr val="D6DBE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unreviewed AI systems in production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D6DBE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Internal audit, August 2026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324442" y="1137146"/>
            <a:ext cx="5257668" cy="660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5200" spc="-26" kern="100" dirty="0">
                <a:solidFill>
                  <a:srgbClr val="E39B5B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3x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6324442" y="1994396"/>
            <a:ext cx="5257668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spcAft>
                <a:spcPts val="850"/>
              </a:spcAft>
              <a:buNone/>
            </a:pPr>
            <a:r>
              <a:rPr lang="en-US" sz="1400" dirty="0">
                <a:solidFill>
                  <a:srgbClr val="D6DBE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higher error rate for underrepresented groups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D6DBE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Facial recognition benchmark, internal test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09585" y="3984823"/>
            <a:ext cx="5257668" cy="660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5200" spc="-26" kern="100" dirty="0">
                <a:solidFill>
                  <a:srgbClr val="E39B5B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0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609585" y="4842073"/>
            <a:ext cx="5257668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D6DBE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formal bias audits completed this year, despite policy requiring annual audits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324442" y="3984823"/>
            <a:ext cx="5257668" cy="660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5200" spc="-26" kern="100" dirty="0">
                <a:solidFill>
                  <a:srgbClr val="E39B5B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84%</a:t>
            </a:r>
            <a:endParaRPr lang="en-US" sz="5200" dirty="0"/>
          </a:p>
        </p:txBody>
      </p:sp>
      <p:sp>
        <p:nvSpPr>
          <p:cNvPr id="10" name="Text 8"/>
          <p:cNvSpPr/>
          <p:nvPr/>
        </p:nvSpPr>
        <p:spPr>
          <a:xfrm>
            <a:off x="6324442" y="4842073"/>
            <a:ext cx="5257668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spcAft>
                <a:spcPts val="850"/>
              </a:spcAft>
              <a:buNone/>
            </a:pPr>
            <a:r>
              <a:rPr lang="en-US" sz="1400" dirty="0">
                <a:solidFill>
                  <a:srgbClr val="D6DBE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of employees unable to identify AI use in their workflow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D6DBE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Internal survey, September 2026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089498" y="1137146"/>
            <a:ext cx="12700" cy="2619077"/>
          </a:xfrm>
          <a:prstGeom prst="rect">
            <a:avLst/>
          </a:prstGeom>
          <a:solidFill>
            <a:srgbClr val="2A3B5A"/>
          </a:solidFill>
          <a:ln/>
        </p:spPr>
      </p:sp>
      <p:sp>
        <p:nvSpPr>
          <p:cNvPr id="12" name="Shape 10"/>
          <p:cNvSpPr/>
          <p:nvPr/>
        </p:nvSpPr>
        <p:spPr>
          <a:xfrm>
            <a:off x="609585" y="3749873"/>
            <a:ext cx="5486263" cy="12700"/>
          </a:xfrm>
          <a:prstGeom prst="rect">
            <a:avLst/>
          </a:prstGeom>
          <a:solidFill>
            <a:srgbClr val="2A3B5A"/>
          </a:solidFill>
          <a:ln/>
        </p:spPr>
      </p:sp>
      <p:sp>
        <p:nvSpPr>
          <p:cNvPr id="13" name="Shape 11"/>
          <p:cNvSpPr/>
          <p:nvPr/>
        </p:nvSpPr>
        <p:spPr>
          <a:xfrm>
            <a:off x="6089498" y="3756223"/>
            <a:ext cx="12700" cy="2619177"/>
          </a:xfrm>
          <a:prstGeom prst="rect">
            <a:avLst/>
          </a:prstGeom>
          <a:solidFill>
            <a:srgbClr val="2A3B5A"/>
          </a:solidFill>
          <a:ln/>
        </p:spPr>
      </p:sp>
      <p:sp>
        <p:nvSpPr>
          <p:cNvPr id="14" name="Shape 12"/>
          <p:cNvSpPr/>
          <p:nvPr/>
        </p:nvSpPr>
        <p:spPr>
          <a:xfrm>
            <a:off x="6095848" y="3749873"/>
            <a:ext cx="5486263" cy="12700"/>
          </a:xfrm>
          <a:prstGeom prst="rect">
            <a:avLst/>
          </a:prstGeom>
          <a:solidFill>
            <a:srgbClr val="2A3B5A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876678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562461" y="685800"/>
            <a:ext cx="6553036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50" spc="126" kern="100" dirty="0">
                <a:solidFill>
                  <a:srgbClr val="E39B5B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PART TWO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562461" y="2701330"/>
            <a:ext cx="5943451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5200" spc="-26" kern="100" dirty="0">
                <a:solidFill>
                  <a:srgbClr val="F4EFE6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A Governance Framework</a:t>
            </a:r>
            <a:endParaRPr lang="en-US" sz="5200" dirty="0"/>
          </a:p>
        </p:txBody>
      </p:sp>
      <p:sp>
        <p:nvSpPr>
          <p:cNvPr id="5" name="Shape 2"/>
          <p:cNvSpPr/>
          <p:nvPr/>
        </p:nvSpPr>
        <p:spPr>
          <a:xfrm>
            <a:off x="5562461" y="4263430"/>
            <a:ext cx="1485863" cy="38100"/>
          </a:xfrm>
          <a:prstGeom prst="roundRect">
            <a:avLst>
              <a:gd name="adj" fmla="val 49999"/>
            </a:avLst>
          </a:prstGeom>
          <a:solidFill>
            <a:srgbClr val="E39B5B"/>
          </a:solidFill>
          <a:ln/>
        </p:spPr>
      </p:sp>
      <p:sp>
        <p:nvSpPr>
          <p:cNvPr id="6" name="Shape 3"/>
          <p:cNvSpPr/>
          <p:nvPr/>
        </p:nvSpPr>
        <p:spPr>
          <a:xfrm>
            <a:off x="4857628" y="0"/>
            <a:ext cx="38099" cy="6858000"/>
          </a:xfrm>
          <a:prstGeom prst="rect">
            <a:avLst/>
          </a:prstGeom>
          <a:solidFill>
            <a:srgbClr val="E39B5B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533400"/>
            <a:ext cx="10972526" cy="4576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400" spc="-17" kern="100" dirty="0">
                <a:solidFill>
                  <a:srgbClr val="F4EFE6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A phased approach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09585" y="2430760"/>
            <a:ext cx="10972526" cy="19050"/>
          </a:xfrm>
          <a:prstGeom prst="roundRect">
            <a:avLst>
              <a:gd name="adj" fmla="val 49999"/>
            </a:avLst>
          </a:prstGeom>
          <a:solidFill>
            <a:srgbClr val="86562C"/>
          </a:solidFill>
          <a:ln/>
        </p:spPr>
      </p:sp>
      <p:sp>
        <p:nvSpPr>
          <p:cNvPr id="4" name="Shape 2"/>
          <p:cNvSpPr/>
          <p:nvPr/>
        </p:nvSpPr>
        <p:spPr>
          <a:xfrm>
            <a:off x="1888284" y="2430760"/>
            <a:ext cx="19050" cy="533400"/>
          </a:xfrm>
          <a:prstGeom prst="roundRect">
            <a:avLst>
              <a:gd name="adj" fmla="val 49999"/>
            </a:avLst>
          </a:prstGeom>
          <a:solidFill>
            <a:srgbClr val="86562C"/>
          </a:solidFill>
          <a:ln/>
        </p:spPr>
      </p:sp>
      <p:sp>
        <p:nvSpPr>
          <p:cNvPr id="5" name="Shape 3"/>
          <p:cNvSpPr/>
          <p:nvPr/>
        </p:nvSpPr>
        <p:spPr>
          <a:xfrm>
            <a:off x="1697789" y="2230735"/>
            <a:ext cx="400040" cy="400050"/>
          </a:xfrm>
          <a:prstGeom prst="roundRect">
            <a:avLst>
              <a:gd name="adj" fmla="val 18667"/>
            </a:avLst>
          </a:prstGeom>
          <a:solidFill>
            <a:srgbClr val="6D3D13"/>
          </a:solidFill>
          <a:ln w="6350">
            <a:solidFill>
              <a:srgbClr val="8656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64462" y="2289423"/>
            <a:ext cx="266693" cy="2826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100" spc="-10" kern="100" dirty="0">
                <a:solidFill>
                  <a:srgbClr val="D6DBE6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787380" y="3141960"/>
            <a:ext cx="2220857" cy="215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1600" spc="-8" kern="100" dirty="0">
                <a:solidFill>
                  <a:srgbClr val="D6DBE6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Months 1-2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87380" y="3463925"/>
            <a:ext cx="2220857" cy="1116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D6DBE6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Establish the review board</a:t>
            </a:r>
            <a:endParaRPr lang="en-US" sz="14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D6DBE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Charter, membership, meeting cadence; define what triggers a review.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86976" y="2430760"/>
            <a:ext cx="19050" cy="533400"/>
          </a:xfrm>
          <a:prstGeom prst="roundRect">
            <a:avLst>
              <a:gd name="adj" fmla="val 49999"/>
            </a:avLst>
          </a:prstGeom>
          <a:solidFill>
            <a:srgbClr val="86562C"/>
          </a:solidFill>
          <a:ln/>
        </p:spPr>
      </p:sp>
      <p:sp>
        <p:nvSpPr>
          <p:cNvPr id="10" name="Shape 8"/>
          <p:cNvSpPr/>
          <p:nvPr/>
        </p:nvSpPr>
        <p:spPr>
          <a:xfrm>
            <a:off x="4496481" y="2230735"/>
            <a:ext cx="400040" cy="400050"/>
          </a:xfrm>
          <a:prstGeom prst="roundRect">
            <a:avLst>
              <a:gd name="adj" fmla="val 18667"/>
            </a:avLst>
          </a:prstGeom>
          <a:solidFill>
            <a:srgbClr val="6D3D13"/>
          </a:solidFill>
          <a:ln w="6350">
            <a:solidFill>
              <a:srgbClr val="86562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63155" y="2289423"/>
            <a:ext cx="266693" cy="2826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100" spc="-10" kern="100" dirty="0">
                <a:solidFill>
                  <a:srgbClr val="D6DBE6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2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3586073" y="3141960"/>
            <a:ext cx="2220857" cy="215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1600" spc="-8" kern="100" dirty="0">
                <a:solidFill>
                  <a:srgbClr val="D6DBE6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Months 3-4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86073" y="3463925"/>
            <a:ext cx="2220857" cy="1116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D6DBE6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Audit existing systems</a:t>
            </a:r>
            <a:endParaRPr lang="en-US" sz="14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D6DBE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Inventory all AI in production, classify by risk tier, prioritize remediation.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485669" y="2430760"/>
            <a:ext cx="19050" cy="533400"/>
          </a:xfrm>
          <a:prstGeom prst="roundRect">
            <a:avLst>
              <a:gd name="adj" fmla="val 49999"/>
            </a:avLst>
          </a:prstGeom>
          <a:solidFill>
            <a:srgbClr val="86562C"/>
          </a:solidFill>
          <a:ln/>
        </p:spPr>
      </p:sp>
      <p:sp>
        <p:nvSpPr>
          <p:cNvPr id="15" name="Shape 13"/>
          <p:cNvSpPr/>
          <p:nvPr/>
        </p:nvSpPr>
        <p:spPr>
          <a:xfrm>
            <a:off x="7295174" y="2230735"/>
            <a:ext cx="400040" cy="400050"/>
          </a:xfrm>
          <a:prstGeom prst="roundRect">
            <a:avLst>
              <a:gd name="adj" fmla="val 18667"/>
            </a:avLst>
          </a:prstGeom>
          <a:solidFill>
            <a:srgbClr val="6D3D13"/>
          </a:solidFill>
          <a:ln w="6350">
            <a:solidFill>
              <a:srgbClr val="86562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1847" y="2289423"/>
            <a:ext cx="266693" cy="2826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100" spc="-10" kern="100" dirty="0">
                <a:solidFill>
                  <a:srgbClr val="D6DBE6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3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6384765" y="3141960"/>
            <a:ext cx="2220857" cy="215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1600" spc="-8" kern="100" dirty="0">
                <a:solidFill>
                  <a:srgbClr val="D6DBE6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Months 5-6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84765" y="3463925"/>
            <a:ext cx="2220857" cy="16211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D6DBE6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Bias testing &amp; documentation</a:t>
            </a:r>
            <a:endParaRPr lang="en-US" sz="14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D6DBE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Mandatory testing for all tier-1 systems; publish methodology and results internally.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0284361" y="2430760"/>
            <a:ext cx="19050" cy="533400"/>
          </a:xfrm>
          <a:prstGeom prst="roundRect">
            <a:avLst>
              <a:gd name="adj" fmla="val 49999"/>
            </a:avLst>
          </a:prstGeom>
          <a:solidFill>
            <a:srgbClr val="86562C"/>
          </a:solidFill>
          <a:ln/>
        </p:spPr>
      </p:sp>
      <p:sp>
        <p:nvSpPr>
          <p:cNvPr id="20" name="Shape 18"/>
          <p:cNvSpPr/>
          <p:nvPr/>
        </p:nvSpPr>
        <p:spPr>
          <a:xfrm>
            <a:off x="10093866" y="2230735"/>
            <a:ext cx="400040" cy="400050"/>
          </a:xfrm>
          <a:prstGeom prst="roundRect">
            <a:avLst>
              <a:gd name="adj" fmla="val 18667"/>
            </a:avLst>
          </a:prstGeom>
          <a:solidFill>
            <a:srgbClr val="6D3D13"/>
          </a:solidFill>
          <a:ln w="6350">
            <a:solidFill>
              <a:srgbClr val="86562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60540" y="2289423"/>
            <a:ext cx="266693" cy="2826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100" spc="-10" kern="100" dirty="0">
                <a:solidFill>
                  <a:srgbClr val="D6DBE6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4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183458" y="3141960"/>
            <a:ext cx="2220857" cy="215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1600" spc="-8" kern="100" dirty="0">
                <a:solidFill>
                  <a:srgbClr val="D6DBE6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Month 6+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183458" y="3463925"/>
            <a:ext cx="2220857" cy="13687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D6DBE6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Ongoing oversight</a:t>
            </a:r>
            <a:endParaRPr lang="en-US" sz="14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D6DBE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Quarterly reviews, pre-approval for new deployments, annual public ethics report.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482600"/>
            <a:ext cx="10972526" cy="4576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400" spc="-17" kern="100" dirty="0">
                <a:solidFill>
                  <a:srgbClr val="F4EFE6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Questions for the committee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09585" y="1365746"/>
            <a:ext cx="10972526" cy="2960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2200" spc="-11" kern="100" dirty="0">
                <a:solidFill>
                  <a:srgbClr val="F4EFE6"/>
                </a:solidFill>
                <a:latin typeface="Source Sans 3 SemiBold" pitchFamily="34" charset="0"/>
                <a:ea typeface="Source Sans 3 SemiBold" pitchFamily="34" charset="-122"/>
                <a:cs typeface="Source Sans 3 SemiBold" pitchFamily="34" charset="-120"/>
              </a:rPr>
              <a:t>Veto power over deployments?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09585" y="1804690"/>
            <a:ext cx="10972526" cy="2524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D6DBE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Recommend veto on tier-1 systems only, with an override path requiring executive sign-off.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09585" y="3111798"/>
            <a:ext cx="10972526" cy="2960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2200" spc="-11" kern="100" dirty="0">
                <a:solidFill>
                  <a:srgbClr val="F4EFE6"/>
                </a:solidFill>
                <a:latin typeface="Source Sans 3 SemiBold" pitchFamily="34" charset="0"/>
                <a:ea typeface="Source Sans 3 SemiBold" pitchFamily="34" charset="-122"/>
                <a:cs typeface="Source Sans 3 SemiBold" pitchFamily="34" charset="-120"/>
              </a:rPr>
              <a:t>Production systems that fail review?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09585" y="3550741"/>
            <a:ext cx="10972526" cy="2524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D6DBE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 90-day remediation window, then suspension. Exceptions need documented business-critical justification.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09585" y="4857849"/>
            <a:ext cx="10972526" cy="2960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2200" spc="-11" kern="100" dirty="0">
                <a:solidFill>
                  <a:srgbClr val="F4EFE6"/>
                </a:solidFill>
                <a:latin typeface="Source Sans 3 SemiBold" pitchFamily="34" charset="0"/>
                <a:ea typeface="Source Sans 3 SemiBold" pitchFamily="34" charset="-122"/>
                <a:cs typeface="Source Sans 3 SemiBold" pitchFamily="34" charset="-120"/>
              </a:rPr>
              <a:t>Third-party tools we cannot fully audit?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09585" y="5296793"/>
            <a:ext cx="10972526" cy="2524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D6DBE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Vendor must provide a model card, bias report, and data lineage summary; otherwise tier-1 by default and restricted to non-critical workflows.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09585" y="2876848"/>
            <a:ext cx="10972526" cy="12700"/>
          </a:xfrm>
          <a:prstGeom prst="rect">
            <a:avLst/>
          </a:prstGeom>
          <a:solidFill>
            <a:srgbClr val="2A3B5A"/>
          </a:solidFill>
          <a:ln/>
        </p:spPr>
      </p:sp>
      <p:sp>
        <p:nvSpPr>
          <p:cNvPr id="10" name="Shape 8"/>
          <p:cNvSpPr/>
          <p:nvPr/>
        </p:nvSpPr>
        <p:spPr>
          <a:xfrm>
            <a:off x="609585" y="4622899"/>
            <a:ext cx="10972526" cy="12700"/>
          </a:xfrm>
          <a:prstGeom prst="rect">
            <a:avLst/>
          </a:prstGeom>
          <a:solidFill>
            <a:srgbClr val="2A3B5A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783" y="2122388"/>
            <a:ext cx="10820129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5200" spc="-26" kern="100" dirty="0">
                <a:solidFill>
                  <a:srgbClr val="F4EFE6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Ethics is not a checkpoint.</a:t>
            </a:r>
            <a:endParaRPr lang="en-US" sz="5200" dirty="0"/>
          </a:p>
          <a:p>
            <a:pPr algn="l" indent="0" marL="0">
              <a:lnSpc>
                <a:spcPct val="83000"/>
              </a:lnSpc>
              <a:buNone/>
            </a:pPr>
            <a:r>
              <a:rPr lang="en-US" sz="5200" spc="-26" kern="100" dirty="0">
                <a:solidFill>
                  <a:srgbClr val="F4EFE6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It is a practice.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685783" y="3684488"/>
            <a:ext cx="2705032" cy="38100"/>
          </a:xfrm>
          <a:prstGeom prst="roundRect">
            <a:avLst>
              <a:gd name="adj" fmla="val 49999"/>
            </a:avLst>
          </a:prstGeom>
          <a:solidFill>
            <a:srgbClr val="E39B5B"/>
          </a:solidFill>
          <a:ln/>
        </p:spPr>
      </p:sp>
      <p:sp>
        <p:nvSpPr>
          <p:cNvPr id="4" name="Text 2"/>
          <p:cNvSpPr/>
          <p:nvPr/>
        </p:nvSpPr>
        <p:spPr>
          <a:xfrm>
            <a:off x="685783" y="3944838"/>
            <a:ext cx="10820129" cy="7907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spcAft>
                <a:spcPts val="1350"/>
              </a:spcAft>
              <a:buNone/>
            </a:pPr>
            <a:r>
              <a:rPr lang="en-US" sz="1700" dirty="0">
                <a:solidFill>
                  <a:srgbClr val="D6DBE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The framework before you is a starting line, not a finish line.</a:t>
            </a:r>
            <a:endParaRPr lang="en-US" sz="17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D6DBE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We ask the committee to commit to ongoing vigilance, not a one-time approval.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2026-10-04T12:10:38Z</dcterms:created>
  <dcterms:modified xsi:type="dcterms:W3CDTF">2026-10-04T12:10:38Z</dcterms:modified>
</cp:coreProperties>
</file>